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8"/>
  </p:notesMasterIdLst>
  <p:handoutMasterIdLst>
    <p:handoutMasterId r:id="rId29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54" autoAdjust="0"/>
    <p:restoredTop sz="95405" autoAdjust="0"/>
  </p:normalViewPr>
  <p:slideViewPr>
    <p:cSldViewPr snapToGrid="0">
      <p:cViewPr varScale="1">
        <p:scale>
          <a:sx n="78" d="100"/>
          <a:sy n="78" d="100"/>
        </p:scale>
        <p:origin x="922" y="72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10/5/2026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412480" y="548640"/>
            <a:ext cx="2377440" cy="2377440"/>
          </a:xfrm>
          <a:prstGeom prst="ellipse">
            <a:avLst/>
          </a:prstGeom>
          <a:solidFill>
            <a:srgbClr val="1F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509760" y="2240280"/>
            <a:ext cx="1737360" cy="1737360"/>
          </a:xfrm>
          <a:prstGeom prst="ellipse">
            <a:avLst/>
          </a:prstGeom>
          <a:solidFill>
            <a:srgbClr val="E39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680960" y="3337560"/>
            <a:ext cx="2011680" cy="2011680"/>
          </a:xfrm>
          <a:prstGeom prst="ellipse">
            <a:avLst/>
          </a:prstGeom>
          <a:solidFill>
            <a:srgbClr val="3D5F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640080"/>
            <a:ext cx="6858000" cy="320040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DDF1E7"/>
                </a:solidFill>
                <a:latin typeface="Aptos"/>
              </a:defRPr>
            </a:pPr>
            <a:r>
              <a:t>MACHINE LEARNING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234440"/>
            <a:ext cx="7315200" cy="1325880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FFFFF"/>
                </a:solidFill>
                <a:latin typeface="Aptos"/>
              </a:defRPr>
            </a:pPr>
            <a:r>
              <a:t>Wine Quality Classification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06040"/>
            <a:ext cx="7223760" cy="914400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>
              <a:spcAft>
                <a:spcPts val="700"/>
              </a:spcAft>
              <a:defRPr sz="2200" b="0">
                <a:solidFill>
                  <a:srgbClr val="DDF1E7"/>
                </a:solidFill>
                <a:latin typeface="Aptos"/>
              </a:defRPr>
            </a:pPr>
            <a:r>
              <a:rPr dirty="0"/>
              <a:t>Using Logistic Regression and</a:t>
            </a:r>
          </a:p>
          <a:p>
            <a:pPr>
              <a:spcAft>
                <a:spcPts val="700"/>
              </a:spcAft>
              <a:defRPr sz="2200" b="0">
                <a:solidFill>
                  <a:srgbClr val="DDF1E7"/>
                </a:solidFill>
                <a:latin typeface="Aptos"/>
              </a:defRPr>
            </a:pPr>
            <a:r>
              <a:rPr dirty="0"/>
              <a:t>Multinomial Logistic Regression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2040" y="3703320"/>
            <a:ext cx="7040880" cy="1280160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rPr dirty="0"/>
              <a:t>S. Venugopal  |  2520090185</a:t>
            </a:r>
          </a:p>
          <a:p>
            <a:pPr>
              <a:spcAft>
                <a:spcPts val="7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rPr dirty="0"/>
              <a:t>Shashank </a:t>
            </a:r>
            <a:r>
              <a:rPr dirty="0" err="1"/>
              <a:t>Bangale</a:t>
            </a:r>
            <a:r>
              <a:rPr dirty="0"/>
              <a:t>  |  2520090086</a:t>
            </a:r>
          </a:p>
          <a:p>
            <a:pPr>
              <a:spcAft>
                <a:spcPts val="7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rPr dirty="0"/>
              <a:t>Guide: I V Sai Lakshmi Haritha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97880"/>
            <a:ext cx="6949440" cy="411480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DDF1E7"/>
                </a:solidFill>
                <a:latin typeface="Aptos"/>
              </a:defRPr>
            </a:pPr>
            <a:r>
              <a:t>Department of CSIT  •  KLH  •  A.Y. 2026–27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1513135"/>
            <a:ext cx="10972800" cy="530352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42A3A"/>
                </a:solidFill>
                <a:latin typeface="Aptos"/>
              </a:defRPr>
            </a:pPr>
            <a:r>
              <a:rPr dirty="0"/>
              <a:t>2. Introduction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965984" y="1993195"/>
            <a:ext cx="1024128" cy="50292"/>
          </a:xfrm>
          <a:prstGeom prst="rect">
            <a:avLst/>
          </a:prstGeom>
          <a:solidFill>
            <a:srgbClr val="E39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5984" y="2554420"/>
            <a:ext cx="10744200" cy="4480560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33137"/>
                </a:solidFill>
                <a:latin typeface="Aptos"/>
              </a:defRPr>
            </a:pPr>
            <a:r>
              <a:rPr dirty="0"/>
              <a:t>•  Wine quality assessment supports product consistency and customer satisfaction.</a:t>
            </a:r>
          </a:p>
          <a:p>
            <a:pPr>
              <a:spcAft>
                <a:spcPts val="700"/>
              </a:spcAft>
              <a:defRPr sz="1800" b="0">
                <a:solidFill>
                  <a:srgbClr val="233137"/>
                </a:solidFill>
                <a:latin typeface="Aptos"/>
              </a:defRPr>
            </a:pPr>
            <a:r>
              <a:rPr dirty="0"/>
              <a:t>•  Traditionally, expert tasters evaluate sensory properties such as taste, aroma and appearance.</a:t>
            </a:r>
          </a:p>
          <a:p>
            <a:pPr>
              <a:spcAft>
                <a:spcPts val="700"/>
              </a:spcAft>
              <a:defRPr sz="1800" b="0">
                <a:solidFill>
                  <a:srgbClr val="233137"/>
                </a:solidFill>
                <a:latin typeface="Aptos"/>
              </a:defRPr>
            </a:pPr>
            <a:r>
              <a:rPr dirty="0"/>
              <a:t>•  Machine learning can estimate quality classes from measurable physicochemical properties.</a:t>
            </a:r>
          </a:p>
          <a:p>
            <a:pPr>
              <a:spcAft>
                <a:spcPts val="700"/>
              </a:spcAft>
              <a:defRPr sz="1800" b="0">
                <a:solidFill>
                  <a:srgbClr val="233137"/>
                </a:solidFill>
                <a:latin typeface="Aptos"/>
              </a:defRPr>
            </a:pPr>
            <a:r>
              <a:rPr dirty="0"/>
              <a:t>•  This project compares binary Logistic Regression with multinomial Logistic Regression.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F74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64970"/>
            <a:ext cx="10972800" cy="530352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42A3A"/>
                </a:solidFill>
                <a:latin typeface="Aptos"/>
              </a:defRPr>
            </a:pPr>
            <a:r>
              <a:rPr dirty="0"/>
              <a:t>3. Problem Statement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1034746" y="2170176"/>
            <a:ext cx="1024128" cy="50292"/>
          </a:xfrm>
          <a:prstGeom prst="rect">
            <a:avLst/>
          </a:prstGeom>
          <a:solidFill>
            <a:srgbClr val="E39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33856" y="2603582"/>
            <a:ext cx="10744200" cy="4480560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33137"/>
                </a:solidFill>
                <a:latin typeface="Aptos"/>
              </a:defRPr>
            </a:pPr>
            <a:r>
              <a:rPr dirty="0"/>
              <a:t>•  Manual wine-quality assessment can be subjective and may vary between evaluators.</a:t>
            </a:r>
          </a:p>
          <a:p>
            <a:pPr>
              <a:spcAft>
                <a:spcPts val="700"/>
              </a:spcAft>
              <a:defRPr sz="1800" b="0">
                <a:solidFill>
                  <a:srgbClr val="233137"/>
                </a:solidFill>
                <a:latin typeface="Aptos"/>
              </a:defRPr>
            </a:pPr>
            <a:r>
              <a:rPr dirty="0"/>
              <a:t>•  Expert evaluation takes time and may be costly when repeated at scale.</a:t>
            </a:r>
          </a:p>
          <a:p>
            <a:pPr>
              <a:spcAft>
                <a:spcPts val="700"/>
              </a:spcAft>
              <a:defRPr sz="1800" b="0">
                <a:solidFill>
                  <a:srgbClr val="233137"/>
                </a:solidFill>
                <a:latin typeface="Aptos"/>
              </a:defRPr>
            </a:pPr>
            <a:r>
              <a:rPr dirty="0"/>
              <a:t>•  Chemical measurements need to be translated into consistent quality categories.</a:t>
            </a:r>
          </a:p>
          <a:p>
            <a:pPr>
              <a:spcAft>
                <a:spcPts val="700"/>
              </a:spcAft>
              <a:defRPr sz="1800" b="0">
                <a:solidFill>
                  <a:srgbClr val="233137"/>
                </a:solidFill>
                <a:latin typeface="Aptos"/>
              </a:defRPr>
            </a:pPr>
            <a:r>
              <a:rPr dirty="0"/>
              <a:t>•  The project investigates whether interpretable classification models can support quality screening.</a:t>
            </a:r>
          </a:p>
          <a:p>
            <a:pPr>
              <a:spcAft>
                <a:spcPts val="700"/>
              </a:spcAft>
              <a:defRPr sz="1800" b="0">
                <a:solidFill>
                  <a:srgbClr val="233137"/>
                </a:solidFill>
                <a:latin typeface="Aptos"/>
              </a:defRPr>
            </a:pPr>
            <a:r>
              <a:rPr dirty="0"/>
              <a:t>•  Affected stakeholders include wine producers, laboratory teams and quality-control staff.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F74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0166" y="2131437"/>
            <a:ext cx="10972800" cy="530352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42A3A"/>
                </a:solidFill>
                <a:latin typeface="Aptos"/>
              </a:defRPr>
            </a:pPr>
            <a:r>
              <a:rPr dirty="0"/>
              <a:t>4. Motivation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4412" y="2661789"/>
            <a:ext cx="1024128" cy="50292"/>
          </a:xfrm>
          <a:prstGeom prst="rect">
            <a:avLst/>
          </a:prstGeom>
          <a:solidFill>
            <a:srgbClr val="E39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38662" y="2933453"/>
            <a:ext cx="10744200" cy="4480560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33137"/>
                </a:solidFill>
                <a:latin typeface="Aptos"/>
              </a:defRPr>
            </a:pPr>
            <a:r>
              <a:rPr dirty="0"/>
              <a:t>•  Explore a practical application of supervised machine learning.</a:t>
            </a:r>
          </a:p>
          <a:p>
            <a:pPr>
              <a:spcAft>
                <a:spcPts val="700"/>
              </a:spcAft>
              <a:defRPr sz="1800" b="0">
                <a:solidFill>
                  <a:srgbClr val="233137"/>
                </a:solidFill>
                <a:latin typeface="Aptos"/>
              </a:defRPr>
            </a:pPr>
            <a:r>
              <a:rPr dirty="0"/>
              <a:t>•  Use measured chemical properties instead of relying only on manual evaluation.</a:t>
            </a:r>
          </a:p>
          <a:p>
            <a:pPr>
              <a:spcAft>
                <a:spcPts val="700"/>
              </a:spcAft>
              <a:defRPr sz="1800" b="0">
                <a:solidFill>
                  <a:srgbClr val="233137"/>
                </a:solidFill>
                <a:latin typeface="Aptos"/>
              </a:defRPr>
            </a:pPr>
            <a:r>
              <a:rPr dirty="0"/>
              <a:t>•  Compare a binary decision task with prediction across multiple quality scores.</a:t>
            </a:r>
          </a:p>
          <a:p>
            <a:pPr>
              <a:spcAft>
                <a:spcPts val="700"/>
              </a:spcAft>
              <a:defRPr sz="1800" b="0">
                <a:solidFill>
                  <a:srgbClr val="233137"/>
                </a:solidFill>
                <a:latin typeface="Aptos"/>
              </a:defRPr>
            </a:pPr>
            <a:r>
              <a:rPr dirty="0"/>
              <a:t>•  Create a reproducible baseline that can later be compared with more advanced algorithms.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F74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1509" y="1767742"/>
            <a:ext cx="10972800" cy="530352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42A3A"/>
                </a:solidFill>
                <a:latin typeface="Aptos"/>
              </a:defRPr>
            </a:pPr>
            <a:r>
              <a:rPr dirty="0"/>
              <a:t>5. Objectives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4579" y="2307827"/>
            <a:ext cx="1024128" cy="50292"/>
          </a:xfrm>
          <a:prstGeom prst="rect">
            <a:avLst/>
          </a:prstGeom>
          <a:solidFill>
            <a:srgbClr val="E39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47800" y="2623149"/>
            <a:ext cx="10744200" cy="4480560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33137"/>
                </a:solidFill>
                <a:latin typeface="Aptos"/>
              </a:defRPr>
            </a:pPr>
            <a:r>
              <a:rPr dirty="0"/>
              <a:t>•  Load and inspect the provided WineQT.csv dataset.</a:t>
            </a:r>
          </a:p>
          <a:p>
            <a:pPr>
              <a:spcAft>
                <a:spcPts val="700"/>
              </a:spcAft>
              <a:defRPr sz="1800" b="0">
                <a:solidFill>
                  <a:srgbClr val="233137"/>
                </a:solidFill>
                <a:latin typeface="Aptos"/>
              </a:defRPr>
            </a:pPr>
            <a:r>
              <a:rPr dirty="0"/>
              <a:t>•  Prepare numeric features using missing-value imputation and feature scaling.</a:t>
            </a:r>
          </a:p>
          <a:p>
            <a:pPr>
              <a:spcAft>
                <a:spcPts val="700"/>
              </a:spcAft>
              <a:defRPr sz="1800" b="0">
                <a:solidFill>
                  <a:srgbClr val="233137"/>
                </a:solidFill>
                <a:latin typeface="Aptos"/>
              </a:defRPr>
            </a:pPr>
            <a:r>
              <a:rPr dirty="0"/>
              <a:t>•  Train Logistic Regression to group wines as Good or Poor.</a:t>
            </a:r>
          </a:p>
          <a:p>
            <a:pPr>
              <a:spcAft>
                <a:spcPts val="700"/>
              </a:spcAft>
              <a:defRPr sz="1800" b="0">
                <a:solidFill>
                  <a:srgbClr val="233137"/>
                </a:solidFill>
                <a:latin typeface="Aptos"/>
              </a:defRPr>
            </a:pPr>
            <a:r>
              <a:rPr dirty="0"/>
              <a:t>•  Train multinomial-capable Logistic Regression to predict the original quality classes.</a:t>
            </a:r>
          </a:p>
          <a:p>
            <a:pPr>
              <a:spcAft>
                <a:spcPts val="700"/>
              </a:spcAft>
              <a:defRPr sz="1800" b="0">
                <a:solidFill>
                  <a:srgbClr val="233137"/>
                </a:solidFill>
                <a:latin typeface="Aptos"/>
              </a:defRPr>
            </a:pPr>
            <a:r>
              <a:rPr dirty="0"/>
              <a:t>•  Evaluate both models using accuracy, precision, recall and F1-score.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F74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15702" y="1709781"/>
            <a:ext cx="10972800" cy="530352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42A3A"/>
                </a:solidFill>
                <a:latin typeface="Aptos"/>
              </a:defRPr>
            </a:pPr>
            <a:r>
              <a:rPr dirty="0"/>
              <a:t>6. Existing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965921" y="2189841"/>
            <a:ext cx="1024128" cy="50292"/>
          </a:xfrm>
          <a:prstGeom prst="rect">
            <a:avLst/>
          </a:prstGeom>
          <a:solidFill>
            <a:srgbClr val="E39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33856" y="2655201"/>
            <a:ext cx="10744200" cy="4480560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33137"/>
                </a:solidFill>
                <a:latin typeface="Aptos"/>
              </a:defRPr>
            </a:pPr>
            <a:r>
              <a:rPr dirty="0"/>
              <a:t>•  Current approach: human experts assess sensory qualities of wine.</a:t>
            </a:r>
          </a:p>
          <a:p>
            <a:pPr>
              <a:spcAft>
                <a:spcPts val="700"/>
              </a:spcAft>
              <a:defRPr sz="1800" b="0">
                <a:solidFill>
                  <a:srgbClr val="233137"/>
                </a:solidFill>
                <a:latin typeface="Aptos"/>
              </a:defRPr>
            </a:pPr>
            <a:r>
              <a:rPr dirty="0"/>
              <a:t>•  Existing supporting tools may include laboratory chemical measurements and statistical analysis.</a:t>
            </a:r>
          </a:p>
          <a:p>
            <a:pPr>
              <a:spcAft>
                <a:spcPts val="700"/>
              </a:spcAft>
              <a:defRPr sz="1800" b="0">
                <a:solidFill>
                  <a:srgbClr val="233137"/>
                </a:solidFill>
                <a:latin typeface="Aptos"/>
              </a:defRPr>
            </a:pPr>
            <a:r>
              <a:rPr dirty="0"/>
              <a:t>•  Limitations: subjectivity, need for specialist time, and difficulty of fully automating sensory judgement.</a:t>
            </a:r>
          </a:p>
          <a:p>
            <a:pPr>
              <a:spcAft>
                <a:spcPts val="700"/>
              </a:spcAft>
              <a:defRPr sz="1800" b="0">
                <a:solidFill>
                  <a:srgbClr val="233137"/>
                </a:solidFill>
                <a:latin typeface="Aptos"/>
              </a:defRPr>
            </a:pPr>
            <a:r>
              <a:rPr dirty="0"/>
              <a:t>•  A model based only on chemical properties also cannot represent every aspect of taste, aroma or appearance.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F74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875798"/>
            <a:ext cx="10972800" cy="530352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42A3A"/>
                </a:solidFill>
                <a:latin typeface="Aptos"/>
              </a:defRPr>
            </a:pPr>
            <a:r>
              <a:rPr dirty="0"/>
              <a:t>7. Proposed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847934" y="2406150"/>
            <a:ext cx="1024128" cy="50292"/>
          </a:xfrm>
          <a:prstGeom prst="rect">
            <a:avLst/>
          </a:prstGeom>
          <a:solidFill>
            <a:srgbClr val="E39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59269" y="2593258"/>
            <a:ext cx="10744200" cy="4480560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33137"/>
                </a:solidFill>
                <a:latin typeface="Aptos"/>
              </a:defRPr>
            </a:pPr>
            <a:r>
              <a:rPr dirty="0"/>
              <a:t>•  Use the uploaded WineQT.csv as the data source.</a:t>
            </a:r>
          </a:p>
          <a:p>
            <a:pPr>
              <a:spcAft>
                <a:spcPts val="700"/>
              </a:spcAft>
              <a:defRPr sz="1800" b="0">
                <a:solidFill>
                  <a:srgbClr val="233137"/>
                </a:solidFill>
                <a:latin typeface="Aptos"/>
              </a:defRPr>
            </a:pPr>
            <a:r>
              <a:rPr dirty="0"/>
              <a:t>•  Use 11 physicochemical measurements as input features; keep quality as the target and exclude Id.</a:t>
            </a:r>
          </a:p>
          <a:p>
            <a:pPr>
              <a:spcAft>
                <a:spcPts val="700"/>
              </a:spcAft>
              <a:defRPr sz="1800" b="0">
                <a:solidFill>
                  <a:srgbClr val="233137"/>
                </a:solidFill>
                <a:latin typeface="Aptos"/>
              </a:defRPr>
            </a:pPr>
            <a:r>
              <a:rPr dirty="0"/>
              <a:t>•  Apply preprocessing and split the dataset into training and test sets.</a:t>
            </a:r>
          </a:p>
          <a:p>
            <a:pPr>
              <a:spcAft>
                <a:spcPts val="700"/>
              </a:spcAft>
              <a:defRPr sz="1800" b="0">
                <a:solidFill>
                  <a:srgbClr val="233137"/>
                </a:solidFill>
                <a:latin typeface="Aptos"/>
              </a:defRPr>
            </a:pPr>
            <a:r>
              <a:rPr dirty="0"/>
              <a:t>•  Train binary and multiclass Logistic Regression pipelines.</a:t>
            </a:r>
          </a:p>
          <a:p>
            <a:pPr>
              <a:spcAft>
                <a:spcPts val="700"/>
              </a:spcAft>
              <a:defRPr sz="1800" b="0">
                <a:solidFill>
                  <a:srgbClr val="233137"/>
                </a:solidFill>
                <a:latin typeface="Aptos"/>
              </a:defRPr>
            </a:pPr>
            <a:r>
              <a:rPr dirty="0"/>
              <a:t>•  Compare test-set metrics and use the predictions as decision-support estimates.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F74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292608"/>
            <a:ext cx="10972800" cy="530352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42A3A"/>
                </a:solidFill>
                <a:latin typeface="Aptos"/>
              </a:defRPr>
            </a:pPr>
            <a:r>
              <a:t>8. System Architecture / Block Diagram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950976"/>
            <a:ext cx="1024128" cy="50292"/>
          </a:xfrm>
          <a:prstGeom prst="rect">
            <a:avLst/>
          </a:prstGeom>
          <a:solidFill>
            <a:srgbClr val="E39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0253" y="1636776"/>
            <a:ext cx="10881360" cy="530352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5F6F74"/>
                </a:solidFill>
                <a:latin typeface="Aptos"/>
              </a:defRPr>
            </a:pPr>
            <a:r>
              <a:rPr dirty="0"/>
              <a:t>End-to-end pipeline from CSV input to evaluated 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F74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331720"/>
            <a:ext cx="2331720" cy="1828800"/>
          </a:xfrm>
          <a:prstGeom prst="roundRect">
            <a:avLst/>
          </a:prstGeom>
          <a:solidFill>
            <a:srgbClr val="DDF1E7"/>
          </a:solidFill>
          <a:ln>
            <a:solidFill>
              <a:srgbClr val="1F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4088" y="2478024"/>
            <a:ext cx="2112263" cy="320040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142A3A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2898648"/>
            <a:ext cx="2075687" cy="1170432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233137"/>
                </a:solidFill>
                <a:latin typeface="Aptos"/>
              </a:defRPr>
            </a:pPr>
            <a:r>
              <a:t>WineQT.csv</a:t>
            </a:r>
          </a:p>
          <a:p>
            <a:pPr algn="ctr">
              <a:spcAft>
                <a:spcPts val="700"/>
              </a:spcAft>
              <a:defRPr sz="1300" b="0">
                <a:solidFill>
                  <a:srgbClr val="233137"/>
                </a:solidFill>
                <a:latin typeface="Aptos"/>
              </a:defRPr>
            </a:pPr>
            <a:r>
              <a:t>11 chemical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971800"/>
            <a:ext cx="411480" cy="365760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 algn="ctr">
              <a:spcAft>
                <a:spcPts val="700"/>
              </a:spcAft>
              <a:defRPr sz="2500" b="1">
                <a:solidFill>
                  <a:srgbClr val="1F807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2331720"/>
            <a:ext cx="2331720" cy="1828800"/>
          </a:xfrm>
          <a:prstGeom prst="roundRect">
            <a:avLst/>
          </a:prstGeom>
          <a:solidFill>
            <a:srgbClr val="E1EDF1"/>
          </a:solidFill>
          <a:ln>
            <a:solidFill>
              <a:srgbClr val="1F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84448" y="2478024"/>
            <a:ext cx="2112263" cy="320040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142A3A"/>
                </a:solidFill>
                <a:latin typeface="Aptos"/>
              </a:defRPr>
            </a:pPr>
            <a:r>
              <a:t>PREPROCESS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2736" y="2898648"/>
            <a:ext cx="2075687" cy="1170432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233137"/>
                </a:solidFill>
                <a:latin typeface="Aptos"/>
              </a:defRPr>
            </a:pPr>
            <a:r>
              <a:t>Impute missing values</a:t>
            </a:r>
          </a:p>
          <a:p>
            <a:pPr algn="ctr">
              <a:spcAft>
                <a:spcPts val="700"/>
              </a:spcAft>
              <a:defRPr sz="1300" b="0">
                <a:solidFill>
                  <a:srgbClr val="233137"/>
                </a:solidFill>
                <a:latin typeface="Aptos"/>
              </a:defRPr>
            </a:pPr>
            <a:r>
              <a:t>Scale 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2971800"/>
            <a:ext cx="411480" cy="365760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 algn="ctr">
              <a:spcAft>
                <a:spcPts val="700"/>
              </a:spcAft>
              <a:defRPr sz="2500" b="1">
                <a:solidFill>
                  <a:srgbClr val="1F807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2331720"/>
            <a:ext cx="2331720" cy="1828800"/>
          </a:xfrm>
          <a:prstGeom prst="roundRect">
            <a:avLst/>
          </a:prstGeom>
          <a:solidFill>
            <a:srgbClr val="F5E6D0"/>
          </a:solidFill>
          <a:ln>
            <a:solidFill>
              <a:srgbClr val="1F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64808" y="2478024"/>
            <a:ext cx="2112263" cy="320040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142A3A"/>
                </a:solidFill>
                <a:latin typeface="Aptos"/>
              </a:defRPr>
            </a:pPr>
            <a:r>
              <a:t>MODELS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3096" y="2898648"/>
            <a:ext cx="2075687" cy="1170432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233137"/>
                </a:solidFill>
                <a:latin typeface="Aptos"/>
              </a:defRPr>
            </a:pPr>
            <a:r>
              <a:t>Binary Logistic</a:t>
            </a:r>
          </a:p>
          <a:p>
            <a:pPr algn="ctr">
              <a:spcAft>
                <a:spcPts val="700"/>
              </a:spcAft>
              <a:defRPr sz="1300" b="0">
                <a:solidFill>
                  <a:srgbClr val="233137"/>
                </a:solidFill>
                <a:latin typeface="Aptos"/>
              </a:defRPr>
            </a:pPr>
            <a:r>
              <a:t>Multiclass Logistic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2971800"/>
            <a:ext cx="411480" cy="365760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 algn="ctr">
              <a:spcAft>
                <a:spcPts val="700"/>
              </a:spcAft>
              <a:defRPr sz="2500" b="1">
                <a:solidFill>
                  <a:srgbClr val="1F807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35440" y="2331720"/>
            <a:ext cx="2331720" cy="1828800"/>
          </a:xfrm>
          <a:prstGeom prst="roundRect">
            <a:avLst/>
          </a:prstGeom>
          <a:solidFill>
            <a:srgbClr val="DBEFE2"/>
          </a:solidFill>
          <a:ln>
            <a:solidFill>
              <a:srgbClr val="1F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45167" y="2478024"/>
            <a:ext cx="2112263" cy="320040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142A3A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63456" y="2898648"/>
            <a:ext cx="2075687" cy="1170432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233137"/>
                </a:solidFill>
                <a:latin typeface="Aptos"/>
              </a:defRPr>
            </a:pPr>
            <a:r>
              <a:t>Quality class</a:t>
            </a:r>
          </a:p>
          <a:p>
            <a:pPr algn="ctr">
              <a:spcAft>
                <a:spcPts val="700"/>
              </a:spcAft>
              <a:defRPr sz="1300" b="0">
                <a:solidFill>
                  <a:srgbClr val="233137"/>
                </a:solidFill>
                <a:latin typeface="Aptos"/>
              </a:defRPr>
            </a:pPr>
            <a:r>
              <a:t>Metrics and report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800600"/>
            <a:ext cx="10332720" cy="685800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142A3A"/>
                </a:solidFill>
                <a:latin typeface="Aptos"/>
              </a:defRPr>
            </a:pPr>
            <a:r>
              <a:t>Data input  →  preprocessing  →  model training  →  prediction  →  evaluation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2851" y="1947672"/>
            <a:ext cx="10972800" cy="530352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42A3A"/>
                </a:solidFill>
                <a:latin typeface="Aptos"/>
              </a:defRPr>
            </a:pPr>
            <a:r>
              <a:rPr dirty="0"/>
              <a:t>9. Methodology / Workflow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985586" y="2435647"/>
            <a:ext cx="1024128" cy="50292"/>
          </a:xfrm>
          <a:prstGeom prst="rect">
            <a:avLst/>
          </a:prstGeom>
          <a:solidFill>
            <a:srgbClr val="E39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30501" y="2660560"/>
            <a:ext cx="10744200" cy="4480560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33137"/>
                </a:solidFill>
                <a:latin typeface="Aptos"/>
              </a:defRPr>
            </a:pPr>
            <a:r>
              <a:rPr dirty="0"/>
              <a:t>•  1. Read WineQT.csv and inspect records, columns and target labels.</a:t>
            </a:r>
          </a:p>
          <a:p>
            <a:pPr>
              <a:spcAft>
                <a:spcPts val="700"/>
              </a:spcAft>
              <a:defRPr sz="1800" b="0">
                <a:solidFill>
                  <a:srgbClr val="233137"/>
                </a:solidFill>
                <a:latin typeface="Aptos"/>
              </a:defRPr>
            </a:pPr>
            <a:r>
              <a:rPr dirty="0"/>
              <a:t>•  2. Select the 11 chemical properties as X; select quality as y; exclude the Id field.</a:t>
            </a:r>
          </a:p>
          <a:p>
            <a:pPr>
              <a:spcAft>
                <a:spcPts val="700"/>
              </a:spcAft>
              <a:defRPr sz="1800" b="0">
                <a:solidFill>
                  <a:srgbClr val="233137"/>
                </a:solidFill>
                <a:latin typeface="Aptos"/>
              </a:defRPr>
            </a:pPr>
            <a:r>
              <a:rPr dirty="0"/>
              <a:t>•  3. Split into 80% training and 20% test data using stratification and </a:t>
            </a:r>
            <a:r>
              <a:rPr dirty="0" err="1"/>
              <a:t>random_state</a:t>
            </a:r>
            <a:r>
              <a:rPr dirty="0"/>
              <a:t> = 42.</a:t>
            </a:r>
          </a:p>
          <a:p>
            <a:pPr>
              <a:spcAft>
                <a:spcPts val="700"/>
              </a:spcAft>
              <a:defRPr sz="1800" b="0">
                <a:solidFill>
                  <a:srgbClr val="233137"/>
                </a:solidFill>
                <a:latin typeface="Aptos"/>
              </a:defRPr>
            </a:pPr>
            <a:r>
              <a:rPr dirty="0"/>
              <a:t>•  4. Build a pipeline with median imputation, </a:t>
            </a:r>
            <a:r>
              <a:rPr dirty="0" err="1"/>
              <a:t>StandardScaler</a:t>
            </a:r>
            <a:r>
              <a:rPr dirty="0"/>
              <a:t> and Logistic Regression.</a:t>
            </a:r>
          </a:p>
          <a:p>
            <a:pPr>
              <a:spcAft>
                <a:spcPts val="700"/>
              </a:spcAft>
              <a:defRPr sz="1800" b="0">
                <a:solidFill>
                  <a:srgbClr val="233137"/>
                </a:solidFill>
                <a:latin typeface="Aptos"/>
              </a:defRPr>
            </a:pPr>
            <a:r>
              <a:rPr dirty="0"/>
              <a:t>•  5. Binary task: quality ≥ 6 is Good; quality &lt; 6 is Poor.</a:t>
            </a:r>
          </a:p>
          <a:p>
            <a:pPr>
              <a:spcAft>
                <a:spcPts val="700"/>
              </a:spcAft>
              <a:defRPr sz="1800" b="0">
                <a:solidFill>
                  <a:srgbClr val="233137"/>
                </a:solidFill>
                <a:latin typeface="Aptos"/>
              </a:defRPr>
            </a:pPr>
            <a:r>
              <a:rPr dirty="0"/>
              <a:t>•  6. Multiclass task: predict the quality labels present in the dataset; calculate test metrics.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F74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924763"/>
            <a:ext cx="10972800" cy="530352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42A3A"/>
                </a:solidFill>
                <a:latin typeface="Aptos"/>
              </a:defRPr>
            </a:pPr>
            <a:r>
              <a:rPr dirty="0"/>
              <a:t>10. Technology Stack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2376652"/>
            <a:ext cx="1024128" cy="50292"/>
          </a:xfrm>
          <a:prstGeom prst="rect">
            <a:avLst/>
          </a:prstGeom>
          <a:solidFill>
            <a:srgbClr val="E39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99941" y="2617643"/>
            <a:ext cx="10744200" cy="4480560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33137"/>
                </a:solidFill>
                <a:latin typeface="Aptos"/>
              </a:defRPr>
            </a:pPr>
            <a:r>
              <a:rPr dirty="0"/>
              <a:t>•  Programming language: Python 3.10 or later.</a:t>
            </a:r>
          </a:p>
          <a:p>
            <a:pPr>
              <a:spcAft>
                <a:spcPts val="700"/>
              </a:spcAft>
              <a:defRPr sz="1800" b="0">
                <a:solidFill>
                  <a:srgbClr val="233137"/>
                </a:solidFill>
                <a:latin typeface="Aptos"/>
              </a:defRPr>
            </a:pPr>
            <a:r>
              <a:rPr dirty="0"/>
              <a:t>•  Development environment: Google </a:t>
            </a:r>
            <a:r>
              <a:rPr dirty="0" err="1"/>
              <a:t>Colab</a:t>
            </a:r>
            <a:r>
              <a:rPr dirty="0"/>
              <a:t>, Jupyter Notebook or Visual Studio Code.</a:t>
            </a:r>
          </a:p>
          <a:p>
            <a:pPr>
              <a:spcAft>
                <a:spcPts val="700"/>
              </a:spcAft>
              <a:defRPr sz="1800" b="0">
                <a:solidFill>
                  <a:srgbClr val="233137"/>
                </a:solidFill>
                <a:latin typeface="Aptos"/>
              </a:defRPr>
            </a:pPr>
            <a:r>
              <a:rPr dirty="0"/>
              <a:t>•  Data handling: Pandas and NumPy.</a:t>
            </a:r>
          </a:p>
          <a:p>
            <a:pPr>
              <a:spcAft>
                <a:spcPts val="700"/>
              </a:spcAft>
              <a:defRPr sz="1800" b="0">
                <a:solidFill>
                  <a:srgbClr val="233137"/>
                </a:solidFill>
                <a:latin typeface="Aptos"/>
              </a:defRPr>
            </a:pPr>
            <a:r>
              <a:rPr dirty="0"/>
              <a:t>•  Machine learning: Scikit-learn (</a:t>
            </a:r>
            <a:r>
              <a:rPr dirty="0" err="1"/>
              <a:t>SimpleImputer</a:t>
            </a:r>
            <a:r>
              <a:rPr dirty="0"/>
              <a:t>, </a:t>
            </a:r>
            <a:r>
              <a:rPr dirty="0" err="1"/>
              <a:t>StandardScaler</a:t>
            </a:r>
            <a:r>
              <a:rPr dirty="0"/>
              <a:t>, Pipeline, LogisticRegression).</a:t>
            </a:r>
          </a:p>
          <a:p>
            <a:pPr>
              <a:spcAft>
                <a:spcPts val="700"/>
              </a:spcAft>
              <a:defRPr sz="1800" b="0">
                <a:solidFill>
                  <a:srgbClr val="233137"/>
                </a:solidFill>
                <a:latin typeface="Aptos"/>
              </a:defRPr>
            </a:pPr>
            <a:r>
              <a:rPr dirty="0"/>
              <a:t>•  Evaluation and visualization: scikit-learn metrics, Matplotlib and Seaborn.</a:t>
            </a:r>
          </a:p>
          <a:p>
            <a:pPr>
              <a:spcAft>
                <a:spcPts val="700"/>
              </a:spcAft>
              <a:defRPr sz="1800" b="0">
                <a:solidFill>
                  <a:srgbClr val="233137"/>
                </a:solidFill>
                <a:latin typeface="Aptos"/>
              </a:defRPr>
            </a:pPr>
            <a:r>
              <a:rPr dirty="0"/>
              <a:t>•  Dataset format: CSV; operating system: Windows, Linux or macOS. No separate database or hardware is required.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F74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2239398"/>
            <a:ext cx="10972800" cy="530352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42A3A"/>
                </a:solidFill>
                <a:latin typeface="Aptos"/>
              </a:defRPr>
            </a:pPr>
            <a:r>
              <a:rPr dirty="0"/>
              <a:t>11. System Modules / Components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2740451"/>
            <a:ext cx="1024128" cy="50292"/>
          </a:xfrm>
          <a:prstGeom prst="rect">
            <a:avLst/>
          </a:prstGeom>
          <a:solidFill>
            <a:srgbClr val="E39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2621" y="2868464"/>
            <a:ext cx="10744200" cy="4480560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33137"/>
                </a:solidFill>
                <a:latin typeface="Aptos"/>
              </a:defRPr>
            </a:pPr>
            <a:r>
              <a:rPr dirty="0"/>
              <a:t>•  Dataset module: imports the CSV and checks feature columns and target distribution.</a:t>
            </a:r>
          </a:p>
          <a:p>
            <a:pPr>
              <a:spcAft>
                <a:spcPts val="700"/>
              </a:spcAft>
              <a:defRPr sz="1800" b="0">
                <a:solidFill>
                  <a:srgbClr val="233137"/>
                </a:solidFill>
                <a:latin typeface="Aptos"/>
              </a:defRPr>
            </a:pPr>
            <a:r>
              <a:rPr dirty="0"/>
              <a:t>•  Preprocessing module: handles missing numeric values and scales the inputs.</a:t>
            </a:r>
          </a:p>
          <a:p>
            <a:pPr>
              <a:spcAft>
                <a:spcPts val="700"/>
              </a:spcAft>
              <a:defRPr sz="1800" b="0">
                <a:solidFill>
                  <a:srgbClr val="233137"/>
                </a:solidFill>
                <a:latin typeface="Aptos"/>
              </a:defRPr>
            </a:pPr>
            <a:r>
              <a:rPr dirty="0"/>
              <a:t>•  Binary classification module: maps quality scores to Good and Poor classes.</a:t>
            </a:r>
          </a:p>
          <a:p>
            <a:pPr>
              <a:spcAft>
                <a:spcPts val="700"/>
              </a:spcAft>
              <a:defRPr sz="1800" b="0">
                <a:solidFill>
                  <a:srgbClr val="233137"/>
                </a:solidFill>
                <a:latin typeface="Aptos"/>
              </a:defRPr>
            </a:pPr>
            <a:r>
              <a:rPr dirty="0"/>
              <a:t>•  Multiclass classification module: predicts the original discrete quality labels.</a:t>
            </a:r>
          </a:p>
          <a:p>
            <a:pPr>
              <a:spcAft>
                <a:spcPts val="700"/>
              </a:spcAft>
              <a:defRPr sz="1800" b="0">
                <a:solidFill>
                  <a:srgbClr val="233137"/>
                </a:solidFill>
                <a:latin typeface="Aptos"/>
              </a:defRPr>
            </a:pPr>
            <a:r>
              <a:rPr dirty="0"/>
              <a:t>•  Evaluation module: computes accuracy, precision, recall and F1-score.</a:t>
            </a:r>
          </a:p>
          <a:p>
            <a:pPr>
              <a:spcAft>
                <a:spcPts val="700"/>
              </a:spcAft>
              <a:defRPr sz="1800" b="0">
                <a:solidFill>
                  <a:srgbClr val="233137"/>
                </a:solidFill>
                <a:latin typeface="Aptos"/>
              </a:defRPr>
            </a:pPr>
            <a:r>
              <a:rPr dirty="0"/>
              <a:t>•  Reporting module: presents metrics, observations and limitations.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F74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2082080"/>
            <a:ext cx="10972800" cy="530352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42A3A"/>
                </a:solidFill>
                <a:latin typeface="Aptos"/>
              </a:defRPr>
            </a:pPr>
            <a:r>
              <a:rPr dirty="0"/>
              <a:t>12. Implementation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2573303"/>
            <a:ext cx="1024128" cy="50292"/>
          </a:xfrm>
          <a:prstGeom prst="rect">
            <a:avLst/>
          </a:prstGeom>
          <a:solidFill>
            <a:srgbClr val="E39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33856" y="2692072"/>
            <a:ext cx="10744200" cy="4480560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33137"/>
                </a:solidFill>
                <a:latin typeface="Aptos"/>
              </a:defRPr>
            </a:pPr>
            <a:r>
              <a:rPr dirty="0"/>
              <a:t>•  Load the CSV using </a:t>
            </a:r>
            <a:r>
              <a:rPr dirty="0" err="1"/>
              <a:t>pandas.read_csv</a:t>
            </a:r>
            <a:r>
              <a:rPr dirty="0"/>
              <a:t>("WineQT.csv").</a:t>
            </a:r>
          </a:p>
          <a:p>
            <a:pPr>
              <a:spcAft>
                <a:spcPts val="700"/>
              </a:spcAft>
              <a:defRPr sz="1800" b="0">
                <a:solidFill>
                  <a:srgbClr val="233137"/>
                </a:solidFill>
                <a:latin typeface="Aptos"/>
              </a:defRPr>
            </a:pPr>
            <a:r>
              <a:rPr dirty="0"/>
              <a:t>•  Set X to the 11 chemical features and y to the quality column; exclude Id from model inputs.</a:t>
            </a:r>
          </a:p>
          <a:p>
            <a:pPr>
              <a:spcAft>
                <a:spcPts val="700"/>
              </a:spcAft>
              <a:defRPr sz="1800" b="0">
                <a:solidFill>
                  <a:srgbClr val="233137"/>
                </a:solidFill>
                <a:latin typeface="Aptos"/>
              </a:defRPr>
            </a:pPr>
            <a:r>
              <a:rPr dirty="0"/>
              <a:t>•  Use </a:t>
            </a:r>
            <a:r>
              <a:rPr dirty="0" err="1"/>
              <a:t>train_test_split</a:t>
            </a:r>
            <a:r>
              <a:rPr dirty="0"/>
              <a:t> with </a:t>
            </a:r>
            <a:r>
              <a:rPr dirty="0" err="1"/>
              <a:t>test_size</a:t>
            </a:r>
            <a:r>
              <a:rPr dirty="0"/>
              <a:t> = 0.2, </a:t>
            </a:r>
            <a:r>
              <a:rPr dirty="0" err="1"/>
              <a:t>random_state</a:t>
            </a:r>
            <a:r>
              <a:rPr dirty="0"/>
              <a:t> = 42 and stratification.</a:t>
            </a:r>
          </a:p>
          <a:p>
            <a:pPr>
              <a:spcAft>
                <a:spcPts val="700"/>
              </a:spcAft>
              <a:defRPr sz="1800" b="0">
                <a:solidFill>
                  <a:srgbClr val="233137"/>
                </a:solidFill>
                <a:latin typeface="Aptos"/>
              </a:defRPr>
            </a:pPr>
            <a:r>
              <a:rPr dirty="0"/>
              <a:t>•  Fit preprocessing and Logistic Regression together in a scikit-learn Pipeline.</a:t>
            </a:r>
          </a:p>
          <a:p>
            <a:pPr>
              <a:spcAft>
                <a:spcPts val="700"/>
              </a:spcAft>
              <a:defRPr sz="1800" b="0">
                <a:solidFill>
                  <a:srgbClr val="233137"/>
                </a:solidFill>
                <a:latin typeface="Aptos"/>
              </a:defRPr>
            </a:pPr>
            <a:r>
              <a:rPr dirty="0"/>
              <a:t>•  Predict labels for the held-out test data and calculate evaluation metrics.</a:t>
            </a:r>
          </a:p>
          <a:p>
            <a:pPr>
              <a:spcAft>
                <a:spcPts val="700"/>
              </a:spcAft>
              <a:defRPr sz="1800" b="0">
                <a:solidFill>
                  <a:srgbClr val="233137"/>
                </a:solidFill>
                <a:latin typeface="Aptos"/>
              </a:defRPr>
            </a:pPr>
            <a:r>
              <a:rPr dirty="0"/>
              <a:t>•  The numerical results in the following slides are computed from the uploaded CSV with this split.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F74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2003427"/>
            <a:ext cx="10972800" cy="530352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42A3A"/>
                </a:solidFill>
                <a:latin typeface="Aptos"/>
              </a:defRPr>
            </a:pPr>
            <a:r>
              <a:rPr dirty="0"/>
              <a:t>13. Dataset / Input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2435647"/>
            <a:ext cx="1024128" cy="50292"/>
          </a:xfrm>
          <a:prstGeom prst="rect">
            <a:avLst/>
          </a:prstGeom>
          <a:solidFill>
            <a:srgbClr val="E39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675161"/>
            <a:ext cx="10744200" cy="4480560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33137"/>
                </a:solidFill>
                <a:latin typeface="Aptos"/>
              </a:defRPr>
            </a:pPr>
            <a:r>
              <a:rPr dirty="0"/>
              <a:t>•  Dataset: WineQT.csv; total records: 1,143; total columns: 13.</a:t>
            </a:r>
          </a:p>
          <a:p>
            <a:pPr>
              <a:spcAft>
                <a:spcPts val="700"/>
              </a:spcAft>
              <a:defRPr sz="1800" b="0">
                <a:solidFill>
                  <a:srgbClr val="233137"/>
                </a:solidFill>
                <a:latin typeface="Aptos"/>
              </a:defRPr>
            </a:pPr>
            <a:r>
              <a:rPr dirty="0"/>
              <a:t>•  Model inputs: 11 physicochemical features; target column: quality; Id is excluded.</a:t>
            </a:r>
          </a:p>
          <a:p>
            <a:pPr>
              <a:spcAft>
                <a:spcPts val="700"/>
              </a:spcAft>
              <a:defRPr sz="1800" b="0">
                <a:solidFill>
                  <a:srgbClr val="233137"/>
                </a:solidFill>
                <a:latin typeface="Aptos"/>
              </a:defRPr>
            </a:pPr>
            <a:r>
              <a:rPr dirty="0"/>
              <a:t>•  Features: fixed acidity, volatile acidity, citric acid, residual sugar, chlorides, free sulfur dioxide, total sulfur dioxide, density, pH, sulphates and alcohol.</a:t>
            </a:r>
          </a:p>
          <a:p>
            <a:pPr>
              <a:spcAft>
                <a:spcPts val="700"/>
              </a:spcAft>
              <a:defRPr sz="1800" b="0">
                <a:solidFill>
                  <a:srgbClr val="233137"/>
                </a:solidFill>
                <a:latin typeface="Aptos"/>
              </a:defRPr>
            </a:pPr>
            <a:r>
              <a:rPr dirty="0"/>
              <a:t>•  Observed quality counts: 3: 6, 4: 33, 5: 483, 6: 462, 7: 143, 8: 16.</a:t>
            </a:r>
          </a:p>
          <a:p>
            <a:pPr>
              <a:spcAft>
                <a:spcPts val="700"/>
              </a:spcAft>
              <a:defRPr sz="1800" b="0">
                <a:solidFill>
                  <a:srgbClr val="233137"/>
                </a:solidFill>
                <a:latin typeface="Aptos"/>
              </a:defRPr>
            </a:pPr>
            <a:r>
              <a:rPr dirty="0"/>
              <a:t>•  Quality scores in this uploaded file range from 3 to 8; the dataset does not contain labels 1, 2, 9 or 10.</a:t>
            </a:r>
          </a:p>
          <a:p>
            <a:pPr>
              <a:spcAft>
                <a:spcPts val="700"/>
              </a:spcAft>
              <a:defRPr sz="1800" b="0">
                <a:solidFill>
                  <a:srgbClr val="233137"/>
                </a:solidFill>
                <a:latin typeface="Aptos"/>
              </a:defRPr>
            </a:pPr>
            <a:r>
              <a:rPr dirty="0"/>
              <a:t>•  Preprocessing: median imputation, standard scaling and stratified 80/20 split.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F74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2367217"/>
            <a:ext cx="10972800" cy="530352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42A3A"/>
                </a:solidFill>
                <a:latin typeface="Aptos"/>
              </a:defRPr>
            </a:pPr>
            <a:r>
              <a:rPr dirty="0"/>
              <a:t>14. Algorithm /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2878102"/>
            <a:ext cx="1024128" cy="50292"/>
          </a:xfrm>
          <a:prstGeom prst="rect">
            <a:avLst/>
          </a:prstGeom>
          <a:solidFill>
            <a:srgbClr val="E39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3045641"/>
            <a:ext cx="10744200" cy="4480560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33137"/>
                </a:solidFill>
                <a:latin typeface="Aptos"/>
              </a:defRPr>
            </a:pPr>
            <a:r>
              <a:rPr dirty="0"/>
              <a:t>•  Logistic Regression estimates the probability of a sample belonging to a class from its input features.</a:t>
            </a:r>
          </a:p>
          <a:p>
            <a:pPr>
              <a:spcAft>
                <a:spcPts val="700"/>
              </a:spcAft>
              <a:defRPr sz="1800" b="0">
                <a:solidFill>
                  <a:srgbClr val="233137"/>
                </a:solidFill>
                <a:latin typeface="Aptos"/>
              </a:defRPr>
            </a:pPr>
            <a:r>
              <a:rPr dirty="0"/>
              <a:t>•  Binary model: quality ≥ 6 is Good (1); quality &lt; 6 is Poor (0).</a:t>
            </a:r>
          </a:p>
          <a:p>
            <a:pPr>
              <a:spcAft>
                <a:spcPts val="700"/>
              </a:spcAft>
              <a:defRPr sz="1800" b="0">
                <a:solidFill>
                  <a:srgbClr val="233137"/>
                </a:solidFill>
                <a:latin typeface="Aptos"/>
              </a:defRPr>
            </a:pPr>
            <a:r>
              <a:rPr dirty="0"/>
              <a:t>•  Multiclass model: predicts the original quality classes using Logistic Regression in multiclass mode.</a:t>
            </a:r>
          </a:p>
          <a:p>
            <a:pPr>
              <a:spcAft>
                <a:spcPts val="700"/>
              </a:spcAft>
              <a:defRPr sz="1800" b="0">
                <a:solidFill>
                  <a:srgbClr val="233137"/>
                </a:solidFill>
                <a:latin typeface="Aptos"/>
              </a:defRPr>
            </a:pPr>
            <a:r>
              <a:rPr dirty="0"/>
              <a:t>•  Pipeline: </a:t>
            </a:r>
            <a:r>
              <a:rPr dirty="0" err="1"/>
              <a:t>SimpleImputer</a:t>
            </a:r>
            <a:r>
              <a:rPr dirty="0"/>
              <a:t>(strategy="median") → </a:t>
            </a:r>
            <a:r>
              <a:rPr dirty="0" err="1"/>
              <a:t>StandardScaler</a:t>
            </a:r>
            <a:r>
              <a:rPr dirty="0"/>
              <a:t>() → LogisticRegression(</a:t>
            </a:r>
            <a:r>
              <a:rPr dirty="0" err="1"/>
              <a:t>max_iter</a:t>
            </a:r>
            <a:r>
              <a:rPr dirty="0"/>
              <a:t>=3000).</a:t>
            </a:r>
          </a:p>
          <a:p>
            <a:pPr>
              <a:spcAft>
                <a:spcPts val="700"/>
              </a:spcAft>
              <a:defRPr sz="1800" b="0">
                <a:solidFill>
                  <a:srgbClr val="233137"/>
                </a:solidFill>
                <a:latin typeface="Aptos"/>
              </a:defRPr>
            </a:pPr>
            <a:r>
              <a:rPr dirty="0"/>
              <a:t>•  The algorithms are selected as interpretable baseline classifiers and are straightforward to compare.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F74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292608"/>
            <a:ext cx="10972800" cy="530352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42A3A"/>
                </a:solidFill>
                <a:latin typeface="Aptos"/>
              </a:defRPr>
            </a:pPr>
            <a:r>
              <a:t>15. Results: Binary Classification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950976"/>
            <a:ext cx="1024128" cy="50292"/>
          </a:xfrm>
          <a:prstGeom prst="rect">
            <a:avLst/>
          </a:prstGeom>
          <a:solidFill>
            <a:srgbClr val="E39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1389888"/>
            <a:ext cx="10881360" cy="530352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5F6F74"/>
                </a:solidFill>
                <a:latin typeface="Aptos"/>
              </a:defRPr>
            </a:pPr>
            <a:r>
              <a:rPr dirty="0"/>
              <a:t>Held-out test set • Good = quality ≥ 6 • Poor = quality &lt;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F74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74519"/>
            <a:ext cx="2286000" cy="1371600"/>
          </a:xfrm>
          <a:prstGeom prst="roundRect">
            <a:avLst/>
          </a:prstGeom>
          <a:solidFill>
            <a:srgbClr val="DDF1E7"/>
          </a:solidFill>
          <a:ln>
            <a:solidFill>
              <a:srgbClr val="1F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2020824"/>
            <a:ext cx="2066543" cy="320040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142A3A"/>
                </a:solidFill>
                <a:latin typeface="Aptos"/>
              </a:defRPr>
            </a:pPr>
            <a:r>
              <a:t>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441448"/>
            <a:ext cx="2029967" cy="713232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233137"/>
                </a:solidFill>
                <a:latin typeface="Aptos"/>
              </a:defRPr>
            </a:pPr>
            <a:r>
              <a:t>0.777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56432" y="1874519"/>
            <a:ext cx="2286000" cy="1371600"/>
          </a:xfrm>
          <a:prstGeom prst="roundRect">
            <a:avLst/>
          </a:prstGeom>
          <a:solidFill>
            <a:srgbClr val="E1EDF1"/>
          </a:solidFill>
          <a:ln>
            <a:solidFill>
              <a:srgbClr val="1F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66160" y="2020824"/>
            <a:ext cx="2066543" cy="320040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142A3A"/>
                </a:solidFill>
                <a:latin typeface="Aptos"/>
              </a:defRPr>
            </a:pPr>
            <a:r>
              <a:t>Precision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4448" y="2441448"/>
            <a:ext cx="2029967" cy="713232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233137"/>
                </a:solidFill>
                <a:latin typeface="Aptos"/>
              </a:defRPr>
            </a:pPr>
            <a:r>
              <a:t>0.802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4" y="1874519"/>
            <a:ext cx="2286000" cy="1371600"/>
          </a:xfrm>
          <a:prstGeom prst="roundRect">
            <a:avLst/>
          </a:prstGeom>
          <a:solidFill>
            <a:srgbClr val="DDF1E7"/>
          </a:solidFill>
          <a:ln>
            <a:solidFill>
              <a:srgbClr val="1F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82512" y="2020824"/>
            <a:ext cx="2066543" cy="320040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142A3A"/>
                </a:solidFill>
                <a:latin typeface="Aptos"/>
              </a:defRPr>
            </a:pPr>
            <a:r>
              <a:t>Recall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441448"/>
            <a:ext cx="2029967" cy="713232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233137"/>
                </a:solidFill>
                <a:latin typeface="Aptos"/>
              </a:defRPr>
            </a:pPr>
            <a:r>
              <a:t>0.782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89136" y="1874519"/>
            <a:ext cx="2286000" cy="1371600"/>
          </a:xfrm>
          <a:prstGeom prst="roundRect">
            <a:avLst/>
          </a:prstGeom>
          <a:solidFill>
            <a:srgbClr val="E1EDF1"/>
          </a:solidFill>
          <a:ln>
            <a:solidFill>
              <a:srgbClr val="1F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98863" y="2020824"/>
            <a:ext cx="2066543" cy="320040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142A3A"/>
                </a:solidFill>
                <a:latin typeface="Aptos"/>
              </a:defRPr>
            </a:pPr>
            <a:r>
              <a:t>F1-score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17152" y="2441448"/>
            <a:ext cx="2029967" cy="713232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233137"/>
                </a:solidFill>
                <a:latin typeface="Aptos"/>
              </a:defRPr>
            </a:pPr>
            <a:r>
              <a:t>0.792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840480"/>
            <a:ext cx="10515600" cy="1143000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3137"/>
                </a:solidFill>
                <a:latin typeface="Aptos"/>
              </a:defRPr>
            </a:pPr>
            <a:r>
              <a:t>Interpretation: these metrics provide a baseline for the chosen threshold and test split. Performance can change if the quality threshold or dataset split changes.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292608"/>
            <a:ext cx="10972800" cy="530352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42A3A"/>
                </a:solidFill>
                <a:latin typeface="Aptos"/>
              </a:defRPr>
            </a:pPr>
            <a:r>
              <a:t>16. Results: Multiclass Classification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950976"/>
            <a:ext cx="1024128" cy="50292"/>
          </a:xfrm>
          <a:prstGeom prst="rect">
            <a:avLst/>
          </a:prstGeom>
          <a:solidFill>
            <a:srgbClr val="E39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1115568"/>
            <a:ext cx="10881360" cy="530352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5F6F74"/>
                </a:solidFill>
                <a:latin typeface="Aptos"/>
              </a:defRPr>
            </a:pPr>
            <a:r>
              <a:t>Original quality labels • precision, recall and F1-score are weighted averages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F74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74519"/>
            <a:ext cx="2286000" cy="1371600"/>
          </a:xfrm>
          <a:prstGeom prst="roundRect">
            <a:avLst/>
          </a:prstGeom>
          <a:solidFill>
            <a:srgbClr val="F5E6D0"/>
          </a:solidFill>
          <a:ln>
            <a:solidFill>
              <a:srgbClr val="1F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2020824"/>
            <a:ext cx="2066543" cy="320040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142A3A"/>
                </a:solidFill>
                <a:latin typeface="Aptos"/>
              </a:defRPr>
            </a:pPr>
            <a:r>
              <a:t>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441448"/>
            <a:ext cx="2029967" cy="713232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233137"/>
                </a:solidFill>
                <a:latin typeface="Aptos"/>
              </a:defRPr>
            </a:pPr>
            <a:r>
              <a:t>0.624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56432" y="1874519"/>
            <a:ext cx="2286000" cy="1371600"/>
          </a:xfrm>
          <a:prstGeom prst="roundRect">
            <a:avLst/>
          </a:prstGeom>
          <a:solidFill>
            <a:srgbClr val="DDF1E7"/>
          </a:solidFill>
          <a:ln>
            <a:solidFill>
              <a:srgbClr val="1F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66160" y="2020824"/>
            <a:ext cx="2066543" cy="320040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142A3A"/>
                </a:solidFill>
                <a:latin typeface="Aptos"/>
              </a:defRPr>
            </a:pPr>
            <a:r>
              <a:t>Weighted precision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4448" y="2441448"/>
            <a:ext cx="2029967" cy="713232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233137"/>
                </a:solidFill>
                <a:latin typeface="Aptos"/>
              </a:defRPr>
            </a:pPr>
            <a:r>
              <a:t>0.588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4" y="1874519"/>
            <a:ext cx="2286000" cy="1371600"/>
          </a:xfrm>
          <a:prstGeom prst="roundRect">
            <a:avLst/>
          </a:prstGeom>
          <a:solidFill>
            <a:srgbClr val="F5E6D0"/>
          </a:solidFill>
          <a:ln>
            <a:solidFill>
              <a:srgbClr val="1F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82512" y="2020824"/>
            <a:ext cx="2066543" cy="320040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142A3A"/>
                </a:solidFill>
                <a:latin typeface="Aptos"/>
              </a:defRPr>
            </a:pPr>
            <a:r>
              <a:t>Weighted recall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441448"/>
            <a:ext cx="2029967" cy="713232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233137"/>
                </a:solidFill>
                <a:latin typeface="Aptos"/>
              </a:defRPr>
            </a:pPr>
            <a:r>
              <a:t>0.624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89136" y="1874519"/>
            <a:ext cx="2286000" cy="1371600"/>
          </a:xfrm>
          <a:prstGeom prst="roundRect">
            <a:avLst/>
          </a:prstGeom>
          <a:solidFill>
            <a:srgbClr val="DDF1E7"/>
          </a:solidFill>
          <a:ln>
            <a:solidFill>
              <a:srgbClr val="1F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98863" y="2020824"/>
            <a:ext cx="2066543" cy="320040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142A3A"/>
                </a:solidFill>
                <a:latin typeface="Aptos"/>
              </a:defRPr>
            </a:pPr>
            <a:r>
              <a:t>Weighted F1-score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17152" y="2441448"/>
            <a:ext cx="2029967" cy="713232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233137"/>
                </a:solidFill>
                <a:latin typeface="Aptos"/>
              </a:defRPr>
            </a:pPr>
            <a:r>
              <a:t>0.604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794760"/>
            <a:ext cx="10515600" cy="1280160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3137"/>
                </a:solidFill>
                <a:latin typeface="Aptos"/>
              </a:defRPr>
            </a:pPr>
            <a:r>
              <a:t>The dataset is imbalanced: quality scores 5 and 6 are most common, while scores 3 and 8 are rare. Overall metrics may hide weaker performance for uncommon classes. A confusion matrix and per-class report can provide more detail.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292608"/>
            <a:ext cx="10972800" cy="530352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42A3A"/>
                </a:solidFill>
                <a:latin typeface="Aptos"/>
              </a:defRPr>
            </a:pPr>
            <a:r>
              <a:t>17. Screenshots / Demo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950976"/>
            <a:ext cx="1024128" cy="50292"/>
          </a:xfrm>
          <a:prstGeom prst="rect">
            <a:avLst/>
          </a:prstGeom>
          <a:solidFill>
            <a:srgbClr val="E39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F74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65960"/>
            <a:ext cx="2651760" cy="2103120"/>
          </a:xfrm>
          <a:prstGeom prst="roundRect">
            <a:avLst/>
          </a:prstGeom>
          <a:solidFill>
            <a:srgbClr val="DDF1E7"/>
          </a:solidFill>
          <a:ln>
            <a:solidFill>
              <a:srgbClr val="1F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2648" y="2112264"/>
            <a:ext cx="2432304" cy="320040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142A3A"/>
                </a:solidFill>
                <a:latin typeface="Aptos"/>
              </a:defRPr>
            </a:pPr>
            <a:r>
              <a:t>HOME /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" y="2532888"/>
            <a:ext cx="2395728" cy="1444751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233137"/>
                </a:solidFill>
                <a:latin typeface="Aptos"/>
              </a:defRPr>
            </a:pPr>
            <a:r>
              <a:rPr dirty="0"/>
              <a:t>Wine Quality</a:t>
            </a:r>
          </a:p>
          <a:p>
            <a:pPr algn="ctr">
              <a:spcAft>
                <a:spcPts val="700"/>
              </a:spcAft>
              <a:defRPr sz="1300" b="0">
                <a:solidFill>
                  <a:srgbClr val="233137"/>
                </a:solidFill>
                <a:latin typeface="Aptos"/>
              </a:defRPr>
            </a:pPr>
            <a:r>
              <a:rPr dirty="0"/>
              <a:t>Classification</a:t>
            </a:r>
          </a:p>
          <a:p>
            <a:pPr algn="ctr">
              <a:spcAft>
                <a:spcPts val="700"/>
              </a:spcAft>
              <a:defRPr sz="1300" b="0">
                <a:solidFill>
                  <a:srgbClr val="233137"/>
                </a:solidFill>
                <a:latin typeface="Aptos"/>
              </a:defRPr>
            </a:pPr>
            <a:r>
              <a:rPr dirty="0"/>
              <a:t>Dataset: WineQT.csv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1965960"/>
            <a:ext cx="2651760" cy="2103120"/>
          </a:xfrm>
          <a:prstGeom prst="roundRect">
            <a:avLst/>
          </a:prstGeom>
          <a:solidFill>
            <a:srgbClr val="E1EDF1"/>
          </a:solidFill>
          <a:ln>
            <a:solidFill>
              <a:srgbClr val="1F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38728" y="2112264"/>
            <a:ext cx="2432304" cy="320040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142A3A"/>
                </a:solidFill>
                <a:latin typeface="Aptos"/>
              </a:defRPr>
            </a:pPr>
            <a:r>
              <a:t>INPUT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7016" y="2532888"/>
            <a:ext cx="2395728" cy="1444751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233137"/>
                </a:solidFill>
                <a:latin typeface="Aptos"/>
              </a:defRPr>
            </a:pPr>
            <a:r>
              <a:rPr dirty="0"/>
              <a:t>Enter / load</a:t>
            </a:r>
          </a:p>
          <a:p>
            <a:pPr algn="ctr">
              <a:spcAft>
                <a:spcPts val="700"/>
              </a:spcAft>
              <a:defRPr sz="1300" b="0">
                <a:solidFill>
                  <a:srgbClr val="233137"/>
                </a:solidFill>
                <a:latin typeface="Aptos"/>
              </a:defRPr>
            </a:pPr>
            <a:r>
              <a:rPr dirty="0"/>
              <a:t>chemical features</a:t>
            </a:r>
          </a:p>
          <a:p>
            <a:pPr algn="ctr">
              <a:spcAft>
                <a:spcPts val="700"/>
              </a:spcAft>
              <a:defRPr sz="1300" b="0">
                <a:solidFill>
                  <a:srgbClr val="233137"/>
                </a:solidFill>
                <a:latin typeface="Aptos"/>
              </a:defRPr>
            </a:pPr>
            <a:r>
              <a:rPr dirty="0"/>
              <a:t>from CSV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1965960"/>
            <a:ext cx="2651760" cy="2103120"/>
          </a:xfrm>
          <a:prstGeom prst="roundRect">
            <a:avLst/>
          </a:prstGeom>
          <a:solidFill>
            <a:srgbClr val="F5E6D0"/>
          </a:solidFill>
          <a:ln>
            <a:solidFill>
              <a:srgbClr val="1F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64808" y="2112264"/>
            <a:ext cx="2432304" cy="320040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142A3A"/>
                </a:solidFill>
                <a:latin typeface="Aptos"/>
              </a:defRPr>
            </a:pPr>
            <a:r>
              <a:t>PROCESSING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3096" y="2532888"/>
            <a:ext cx="2395728" cy="1444751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233137"/>
                </a:solidFill>
                <a:latin typeface="Aptos"/>
              </a:defRPr>
            </a:pPr>
            <a:r>
              <a:rPr dirty="0"/>
              <a:t>Imputation</a:t>
            </a:r>
          </a:p>
          <a:p>
            <a:pPr algn="ctr">
              <a:spcAft>
                <a:spcPts val="700"/>
              </a:spcAft>
              <a:defRPr sz="1300" b="0">
                <a:solidFill>
                  <a:srgbClr val="233137"/>
                </a:solidFill>
                <a:latin typeface="Aptos"/>
              </a:defRPr>
            </a:pPr>
            <a:r>
              <a:rPr dirty="0"/>
              <a:t>Scaling</a:t>
            </a:r>
          </a:p>
          <a:p>
            <a:pPr algn="ctr">
              <a:spcAft>
                <a:spcPts val="700"/>
              </a:spcAft>
              <a:defRPr sz="1300" b="0">
                <a:solidFill>
                  <a:srgbClr val="233137"/>
                </a:solidFill>
                <a:latin typeface="Aptos"/>
              </a:defRPr>
            </a:pPr>
            <a:r>
              <a:rPr dirty="0"/>
              <a:t>Model prediction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81160" y="1965960"/>
            <a:ext cx="2331720" cy="2103120"/>
          </a:xfrm>
          <a:prstGeom prst="roundRect">
            <a:avLst/>
          </a:prstGeom>
          <a:solidFill>
            <a:srgbClr val="DBEFE2"/>
          </a:solidFill>
          <a:ln>
            <a:solidFill>
              <a:srgbClr val="1F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90888" y="2112264"/>
            <a:ext cx="2112263" cy="320040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142A3A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09176" y="2532888"/>
            <a:ext cx="2075687" cy="1444751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233137"/>
                </a:solidFill>
                <a:latin typeface="Aptos"/>
              </a:defRPr>
            </a:pPr>
            <a:r>
              <a:t>Predicted class</a:t>
            </a:r>
          </a:p>
          <a:p>
            <a:pPr algn="ctr">
              <a:spcAft>
                <a:spcPts val="700"/>
              </a:spcAft>
              <a:defRPr sz="1300" b="0">
                <a:solidFill>
                  <a:srgbClr val="233137"/>
                </a:solidFill>
                <a:latin typeface="Aptos"/>
              </a:defRPr>
            </a:pPr>
            <a:r>
              <a:t>Metrics report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3" y="5879592"/>
            <a:ext cx="10515600" cy="685800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5F6F74"/>
                </a:solidFill>
                <a:latin typeface="Aptos"/>
              </a:defRPr>
            </a:pPr>
            <a:r>
              <a:rPr dirty="0"/>
              <a:t>These are conceptual mock-ups, not screenshots of a completed user interface. The current project workflow can be demonstrated in Google </a:t>
            </a:r>
            <a:r>
              <a:rPr dirty="0" err="1"/>
              <a:t>Colab</a:t>
            </a:r>
            <a:r>
              <a:rPr dirty="0"/>
              <a:t> or VS Code.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C7550C6-B104-17F4-D68A-E1ECA02F30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1" y="733565"/>
            <a:ext cx="6089903" cy="305090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7E87F51-4C00-E190-1768-9DBC2897DB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1" y="711541"/>
            <a:ext cx="6111240" cy="305090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DBE0608-6C89-4162-4D71-8D8DE4F7B0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1" y="3762450"/>
            <a:ext cx="6089902" cy="309555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62DF6F91-3C1D-7207-6275-A8E061C31B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1344" y="3762450"/>
            <a:ext cx="6010656" cy="30955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2121407"/>
            <a:ext cx="10972800" cy="530352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42A3A"/>
                </a:solidFill>
                <a:latin typeface="Aptos"/>
              </a:defRPr>
            </a:pPr>
            <a:r>
              <a:rPr dirty="0"/>
              <a:t>18. Advantages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2622461"/>
            <a:ext cx="1024128" cy="50292"/>
          </a:xfrm>
          <a:prstGeom prst="rect">
            <a:avLst/>
          </a:prstGeom>
          <a:solidFill>
            <a:srgbClr val="E39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27379" y="2945697"/>
            <a:ext cx="10744200" cy="4480560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33137"/>
                </a:solidFill>
                <a:latin typeface="Aptos"/>
              </a:defRPr>
            </a:pPr>
            <a:r>
              <a:rPr dirty="0"/>
              <a:t>•  Repeatable predictions from the same input measurements and trained model.</a:t>
            </a:r>
          </a:p>
          <a:p>
            <a:pPr>
              <a:spcAft>
                <a:spcPts val="700"/>
              </a:spcAft>
              <a:defRPr sz="1800" b="0">
                <a:solidFill>
                  <a:srgbClr val="233137"/>
                </a:solidFill>
                <a:latin typeface="Aptos"/>
              </a:defRPr>
            </a:pPr>
            <a:r>
              <a:rPr dirty="0"/>
              <a:t>•  Fast scoring can help prioritize samples for further expert inspection.</a:t>
            </a:r>
          </a:p>
          <a:p>
            <a:pPr>
              <a:spcAft>
                <a:spcPts val="700"/>
              </a:spcAft>
              <a:defRPr sz="1800" b="0">
                <a:solidFill>
                  <a:srgbClr val="233137"/>
                </a:solidFill>
                <a:latin typeface="Aptos"/>
              </a:defRPr>
            </a:pPr>
            <a:r>
              <a:rPr dirty="0"/>
              <a:t>•  Interpretable baseline algorithms are suitable for learning and comparison.</a:t>
            </a:r>
          </a:p>
          <a:p>
            <a:pPr>
              <a:spcAft>
                <a:spcPts val="700"/>
              </a:spcAft>
              <a:defRPr sz="1800" b="0">
                <a:solidFill>
                  <a:srgbClr val="233137"/>
                </a:solidFill>
                <a:latin typeface="Aptos"/>
              </a:defRPr>
            </a:pPr>
            <a:r>
              <a:rPr dirty="0"/>
              <a:t>•  Automates part of the classification workflow and supports consistent record keeping.</a:t>
            </a:r>
          </a:p>
          <a:p>
            <a:pPr>
              <a:spcAft>
                <a:spcPts val="700"/>
              </a:spcAft>
              <a:defRPr sz="1800" b="0">
                <a:solidFill>
                  <a:srgbClr val="233137"/>
                </a:solidFill>
                <a:latin typeface="Aptos"/>
              </a:defRPr>
            </a:pPr>
            <a:r>
              <a:rPr dirty="0"/>
              <a:t>•  The model is a support tool; it does not replace laboratory tests or sensory experts.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F74"/>
                </a:solidFill>
                <a:latin typeface="Aptos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2003423"/>
            <a:ext cx="10972800" cy="530352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42A3A"/>
                </a:solidFill>
                <a:latin typeface="Aptos"/>
              </a:defRPr>
            </a:pPr>
            <a:r>
              <a:rPr dirty="0"/>
              <a:t>19. Applications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2484810"/>
            <a:ext cx="1024128" cy="50292"/>
          </a:xfrm>
          <a:prstGeom prst="rect">
            <a:avLst/>
          </a:prstGeom>
          <a:solidFill>
            <a:srgbClr val="E39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694630"/>
            <a:ext cx="10744200" cy="4480560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33137"/>
                </a:solidFill>
                <a:latin typeface="Aptos"/>
              </a:defRPr>
            </a:pPr>
            <a:r>
              <a:rPr dirty="0"/>
              <a:t>•  Quality-control support for wine producers and bottling operations.</a:t>
            </a:r>
          </a:p>
          <a:p>
            <a:pPr>
              <a:spcAft>
                <a:spcPts val="700"/>
              </a:spcAft>
              <a:defRPr sz="1800" b="0">
                <a:solidFill>
                  <a:srgbClr val="233137"/>
                </a:solidFill>
                <a:latin typeface="Aptos"/>
              </a:defRPr>
            </a:pPr>
            <a:r>
              <a:rPr dirty="0"/>
              <a:t>•  Preliminary screening of wine samples using physicochemical measurements.</a:t>
            </a:r>
          </a:p>
          <a:p>
            <a:pPr>
              <a:spcAft>
                <a:spcPts val="700"/>
              </a:spcAft>
              <a:defRPr sz="1800" b="0">
                <a:solidFill>
                  <a:srgbClr val="233137"/>
                </a:solidFill>
                <a:latin typeface="Aptos"/>
              </a:defRPr>
            </a:pPr>
            <a:r>
              <a:rPr dirty="0"/>
              <a:t>•  Comparative analysis for laboratory and food-science teams.</a:t>
            </a:r>
          </a:p>
          <a:p>
            <a:pPr>
              <a:spcAft>
                <a:spcPts val="700"/>
              </a:spcAft>
              <a:defRPr sz="1800" b="0">
                <a:solidFill>
                  <a:srgbClr val="233137"/>
                </a:solidFill>
                <a:latin typeface="Aptos"/>
              </a:defRPr>
            </a:pPr>
            <a:r>
              <a:rPr dirty="0"/>
              <a:t>•  Machine-learning education and demonstration of preprocessing and classification.</a:t>
            </a:r>
          </a:p>
          <a:p>
            <a:pPr>
              <a:spcAft>
                <a:spcPts val="700"/>
              </a:spcAft>
              <a:defRPr sz="1800" b="0">
                <a:solidFill>
                  <a:srgbClr val="233137"/>
                </a:solidFill>
                <a:latin typeface="Aptos"/>
              </a:defRPr>
            </a:pPr>
            <a:r>
              <a:rPr dirty="0"/>
              <a:t>•  Potential integration into a quality dashboard after additional validation.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F74"/>
                </a:solidFill>
                <a:latin typeface="Aptos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2288561"/>
            <a:ext cx="10972800" cy="530352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42A3A"/>
                </a:solidFill>
                <a:latin typeface="Aptos"/>
              </a:defRPr>
            </a:pPr>
            <a:r>
              <a:rPr dirty="0"/>
              <a:t>20. Limitations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2878102"/>
            <a:ext cx="1024128" cy="50292"/>
          </a:xfrm>
          <a:prstGeom prst="rect">
            <a:avLst/>
          </a:prstGeom>
          <a:solidFill>
            <a:srgbClr val="E39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4191" y="3094606"/>
            <a:ext cx="10744200" cy="4480560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33137"/>
                </a:solidFill>
                <a:latin typeface="Aptos"/>
              </a:defRPr>
            </a:pPr>
            <a:r>
              <a:t>•  The dataset contains 1,143 rows and quality labels from 3 through 8 only.</a:t>
            </a:r>
          </a:p>
          <a:p>
            <a:pPr>
              <a:spcAft>
                <a:spcPts val="700"/>
              </a:spcAft>
              <a:defRPr sz="1800" b="0">
                <a:solidFill>
                  <a:srgbClr val="233137"/>
                </a:solidFill>
                <a:latin typeface="Aptos"/>
              </a:defRPr>
            </a:pPr>
            <a:r>
              <a:t>•  Class imbalance means rare quality levels have fewer training examples.</a:t>
            </a:r>
          </a:p>
          <a:p>
            <a:pPr>
              <a:spcAft>
                <a:spcPts val="700"/>
              </a:spcAft>
              <a:defRPr sz="1800" b="0">
                <a:solidFill>
                  <a:srgbClr val="233137"/>
                </a:solidFill>
                <a:latin typeface="Aptos"/>
              </a:defRPr>
            </a:pPr>
            <a:r>
              <a:t>•  Input features do not directly describe all sensory properties such as aroma and taste.</a:t>
            </a:r>
          </a:p>
          <a:p>
            <a:pPr>
              <a:spcAft>
                <a:spcPts val="700"/>
              </a:spcAft>
              <a:defRPr sz="1800" b="0">
                <a:solidFill>
                  <a:srgbClr val="233137"/>
                </a:solidFill>
                <a:latin typeface="Aptos"/>
              </a:defRPr>
            </a:pPr>
            <a:r>
              <a:t>•  The binary threshold quality ≥ 6 is a project choice rather than a universal definition.</a:t>
            </a:r>
          </a:p>
          <a:p>
            <a:pPr>
              <a:spcAft>
                <a:spcPts val="700"/>
              </a:spcAft>
              <a:defRPr sz="1800" b="0">
                <a:solidFill>
                  <a:srgbClr val="233137"/>
                </a:solidFill>
                <a:latin typeface="Aptos"/>
              </a:defRPr>
            </a:pPr>
            <a:r>
              <a:t>•  Results depend on the chosen split and may not generalize to other wine types or production sources.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F74"/>
                </a:solidFill>
                <a:latin typeface="Aptos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905101"/>
            <a:ext cx="10972800" cy="530352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42A3A"/>
                </a:solidFill>
                <a:latin typeface="Aptos"/>
              </a:defRPr>
            </a:pPr>
            <a:r>
              <a:rPr dirty="0"/>
              <a:t>21. Future Scope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2386487"/>
            <a:ext cx="1024128" cy="50292"/>
          </a:xfrm>
          <a:prstGeom prst="rect">
            <a:avLst/>
          </a:prstGeom>
          <a:solidFill>
            <a:srgbClr val="E39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47800" y="2602993"/>
            <a:ext cx="10744200" cy="4480560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33137"/>
                </a:solidFill>
                <a:latin typeface="Aptos"/>
              </a:defRPr>
            </a:pPr>
            <a:r>
              <a:rPr dirty="0"/>
              <a:t>•  Compare Logistic Regression with Random Forest, Support Vector Machine and </a:t>
            </a:r>
            <a:r>
              <a:rPr dirty="0" err="1"/>
              <a:t>XGBoost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800" b="0">
                <a:solidFill>
                  <a:srgbClr val="233137"/>
                </a:solidFill>
                <a:latin typeface="Aptos"/>
              </a:defRPr>
            </a:pPr>
            <a:r>
              <a:rPr dirty="0"/>
              <a:t>•  Use cross-validation and hyperparameter tuning for more robust estimates.</a:t>
            </a:r>
          </a:p>
          <a:p>
            <a:pPr>
              <a:spcAft>
                <a:spcPts val="700"/>
              </a:spcAft>
              <a:defRPr sz="1800" b="0">
                <a:solidFill>
                  <a:srgbClr val="233137"/>
                </a:solidFill>
                <a:latin typeface="Aptos"/>
              </a:defRPr>
            </a:pPr>
            <a:r>
              <a:rPr dirty="0"/>
              <a:t>•  Add a confusion matrix, per-class metrics and ROC-AUC for binary classification.</a:t>
            </a:r>
          </a:p>
          <a:p>
            <a:pPr>
              <a:spcAft>
                <a:spcPts val="700"/>
              </a:spcAft>
              <a:defRPr sz="1800" b="0">
                <a:solidFill>
                  <a:srgbClr val="233137"/>
                </a:solidFill>
                <a:latin typeface="Aptos"/>
              </a:defRPr>
            </a:pPr>
            <a:r>
              <a:rPr dirty="0"/>
              <a:t>•  Test on external datasets and different wine varieties to assess generalization.</a:t>
            </a:r>
          </a:p>
          <a:p>
            <a:pPr>
              <a:spcAft>
                <a:spcPts val="700"/>
              </a:spcAft>
              <a:defRPr sz="1800" b="0">
                <a:solidFill>
                  <a:srgbClr val="233137"/>
                </a:solidFill>
                <a:latin typeface="Aptos"/>
              </a:defRPr>
            </a:pPr>
            <a:r>
              <a:rPr dirty="0"/>
              <a:t>•  Build a web interface for entering chemical measurements and viewing predicted classes.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F74"/>
                </a:solidFill>
                <a:latin typeface="Aptos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973923"/>
            <a:ext cx="10972800" cy="530352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42A3A"/>
                </a:solidFill>
                <a:latin typeface="Aptos"/>
              </a:defRPr>
            </a:pPr>
            <a:r>
              <a:rPr dirty="0"/>
              <a:t>22. Conclusion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2484810"/>
            <a:ext cx="1024128" cy="50292"/>
          </a:xfrm>
          <a:prstGeom prst="rect">
            <a:avLst/>
          </a:prstGeom>
          <a:solidFill>
            <a:srgbClr val="E39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21283" y="2618824"/>
            <a:ext cx="10744200" cy="4480560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33137"/>
                </a:solidFill>
                <a:latin typeface="Aptos"/>
              </a:defRPr>
            </a:pPr>
            <a:r>
              <a:rPr dirty="0"/>
              <a:t>•  The project uses the uploaded WineQT.csv to build a wine-quality classification workflow.</a:t>
            </a:r>
          </a:p>
          <a:p>
            <a:pPr>
              <a:spcAft>
                <a:spcPts val="700"/>
              </a:spcAft>
              <a:defRPr sz="1800" b="0">
                <a:solidFill>
                  <a:srgbClr val="233137"/>
                </a:solidFill>
                <a:latin typeface="Aptos"/>
              </a:defRPr>
            </a:pPr>
            <a:r>
              <a:rPr dirty="0"/>
              <a:t>•  Binary Logistic Regression and multiclass Logistic Regression are evaluated on held-out data.</a:t>
            </a:r>
          </a:p>
          <a:p>
            <a:pPr>
              <a:spcAft>
                <a:spcPts val="700"/>
              </a:spcAft>
              <a:defRPr sz="1800" b="0">
                <a:solidFill>
                  <a:srgbClr val="233137"/>
                </a:solidFill>
                <a:latin typeface="Aptos"/>
              </a:defRPr>
            </a:pPr>
            <a:r>
              <a:rPr dirty="0"/>
              <a:t>•  Accuracy, precision, recall and F1-score provide a quantitative comparison of the models.</a:t>
            </a:r>
          </a:p>
          <a:p>
            <a:pPr>
              <a:spcAft>
                <a:spcPts val="700"/>
              </a:spcAft>
              <a:defRPr sz="1800" b="0">
                <a:solidFill>
                  <a:srgbClr val="233137"/>
                </a:solidFill>
                <a:latin typeface="Aptos"/>
              </a:defRPr>
            </a:pPr>
            <a:r>
              <a:rPr dirty="0"/>
              <a:t>•  The workflow demonstrates how chemical measurements can support preliminary quality screening.</a:t>
            </a:r>
          </a:p>
          <a:p>
            <a:pPr>
              <a:spcAft>
                <a:spcPts val="700"/>
              </a:spcAft>
              <a:defRPr sz="1800" b="0">
                <a:solidFill>
                  <a:srgbClr val="233137"/>
                </a:solidFill>
                <a:latin typeface="Aptos"/>
              </a:defRPr>
            </a:pPr>
            <a:r>
              <a:rPr dirty="0"/>
              <a:t>•  Predictions should be validated before use in real production decisions.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F74"/>
                </a:solidFill>
                <a:latin typeface="Aptos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8321" y="2376456"/>
            <a:ext cx="10332720" cy="1395767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 algn="ctr">
              <a:spcAft>
                <a:spcPts val="700"/>
              </a:spcAft>
              <a:defRPr sz="3800" b="1">
                <a:solidFill>
                  <a:srgbClr val="FFFFFF"/>
                </a:solidFill>
                <a:latin typeface="Aptos"/>
              </a:defRPr>
            </a:pPr>
            <a:r>
              <a:rPr sz="8800" dirty="0">
                <a:latin typeface="Algerian" panose="04020705040A02060702" pitchFamily="82" charset="0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0374" y="3566483"/>
            <a:ext cx="10332720" cy="256993"/>
          </a:xfrm>
          <a:prstGeom prst="rect">
            <a:avLst/>
          </a:prstGeom>
          <a:noFill/>
        </p:spPr>
        <p:txBody>
          <a:bodyPr wrap="square" lIns="45720" tIns="22860" rIns="45720" bIns="18288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DDF1E7"/>
                </a:solidFill>
                <a:latin typeface="Aptos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Wine Quality Classification  •  CSIT  •  A.Y. 2026–27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{03416B63-F435-416D-ADD1-B1802995EDA1}TF1ed9553b-00c4-4092-846a-c8f7f2908f3beecd942f_win32-8e33096c3cfc</Template>
  <TotalTime>63</TotalTime>
  <Words>1664</Words>
  <Application>Microsoft Office PowerPoint</Application>
  <PresentationFormat>Widescreen</PresentationFormat>
  <Paragraphs>192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Algerian</vt:lpstr>
      <vt:lpstr>Arial</vt:lpstr>
      <vt:lpstr>Calibri</vt:lpstr>
      <vt:lpstr>Courier New</vt:lpstr>
      <vt:lpstr>Gill Sans Nova Light</vt:lpstr>
      <vt:lpstr>Sagona Book</vt:lpstr>
      <vt:lpstr>Times New Roman</vt:lpstr>
      <vt:lpstr>Custom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Shashank Bangale</dc:creator>
  <cp:lastModifiedBy>VENU GOPAL</cp:lastModifiedBy>
  <cp:revision>2</cp:revision>
  <dcterms:created xsi:type="dcterms:W3CDTF">2026-08-14T04:31:29Z</dcterms:created>
  <dcterms:modified xsi:type="dcterms:W3CDTF">2026-10-05T03:45:16Z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